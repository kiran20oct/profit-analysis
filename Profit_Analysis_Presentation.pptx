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1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04235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2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808"/>
    <a:srgbClr val="C397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12" y="72"/>
      </p:cViewPr>
      <p:guideLst>
        <p:guide orient="horz" pos="2160"/>
        <p:guide pos="328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ree\Downloads\Profit%20analysis%20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[Profit analysis 1.xlsx]Sheet1!PivotTable1</c:name>
    <c:fmtId val="2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/>
              <a:t>Profit%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c:spPr>
      </c:pivotFmt>
    </c:pivotFmts>
    <c:plotArea>
      <c:layout/>
      <c:doughnutChart>
        <c:varyColors val="1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96000"/>
                      <a:lumMod val="102000"/>
                    </a:schemeClr>
                  </a:gs>
                  <a:gs pos="100000">
                    <a:schemeClr val="accent1">
                      <a:shade val="88000"/>
                      <a:lumMod val="94000"/>
                    </a:schemeClr>
                  </a:gs>
                </a:gsLst>
                <a:path path="circle">
                  <a:fillToRect l="50000" t="100000" r="100000" b="50000"/>
                </a:path>
              </a:gradFill>
              <a:ln>
                <a:noFill/>
              </a:ln>
              <a:effectLst>
                <a:outerShdw blurRad="38100" dist="25400" dir="5400000" rotWithShape="0">
                  <a:srgbClr val="000000">
                    <a:alpha val="64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25400" h="12700"/>
              </a:sp3d>
            </c:spPr>
            <c:extLst>
              <c:ext xmlns:c16="http://schemas.microsoft.com/office/drawing/2014/chart" uri="{C3380CC4-5D6E-409C-BE32-E72D297353CC}">
                <c16:uniqueId val="{00000001-3903-49D9-BFDA-984DDADEB2C6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96000"/>
                      <a:lumMod val="102000"/>
                    </a:schemeClr>
                  </a:gs>
                  <a:gs pos="100000">
                    <a:schemeClr val="accent2">
                      <a:shade val="88000"/>
                      <a:lumMod val="94000"/>
                    </a:schemeClr>
                  </a:gs>
                </a:gsLst>
                <a:path path="circle">
                  <a:fillToRect l="50000" t="100000" r="100000" b="50000"/>
                </a:path>
              </a:gradFill>
              <a:ln>
                <a:noFill/>
              </a:ln>
              <a:effectLst>
                <a:outerShdw blurRad="38100" dist="25400" dir="5400000" rotWithShape="0">
                  <a:srgbClr val="000000">
                    <a:alpha val="64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25400" h="12700"/>
              </a:sp3d>
            </c:spPr>
            <c:extLst>
              <c:ext xmlns:c16="http://schemas.microsoft.com/office/drawing/2014/chart" uri="{C3380CC4-5D6E-409C-BE32-E72D297353CC}">
                <c16:uniqueId val="{00000003-3903-49D9-BFDA-984DDADEB2C6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96000"/>
                      <a:lumMod val="102000"/>
                    </a:schemeClr>
                  </a:gs>
                  <a:gs pos="100000">
                    <a:schemeClr val="accent3">
                      <a:shade val="88000"/>
                      <a:lumMod val="94000"/>
                    </a:schemeClr>
                  </a:gs>
                </a:gsLst>
                <a:path path="circle">
                  <a:fillToRect l="50000" t="100000" r="100000" b="50000"/>
                </a:path>
              </a:gradFill>
              <a:ln>
                <a:noFill/>
              </a:ln>
              <a:effectLst>
                <a:outerShdw blurRad="38100" dist="25400" dir="5400000" rotWithShape="0">
                  <a:srgbClr val="000000">
                    <a:alpha val="64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>
                  <a:rot lat="0" lon="0" rev="1200000"/>
                </a:lightRig>
              </a:scene3d>
              <a:sp3d>
                <a:bevelT w="25400" h="12700"/>
              </a:sp3d>
            </c:spPr>
            <c:extLst>
              <c:ext xmlns:c16="http://schemas.microsoft.com/office/drawing/2014/chart" uri="{C3380CC4-5D6E-409C-BE32-E72D297353CC}">
                <c16:uniqueId val="{00000005-3903-49D9-BFDA-984DDADEB2C6}"/>
              </c:ext>
            </c:extLst>
          </c:dPt>
          <c:dLbls>
            <c:dLbl>
              <c:idx val="0"/>
              <c:layout>
                <c:manualLayout>
                  <c:x val="7.8707735495403719E-2"/>
                  <c:y val="-0.1064814814814815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0" i="0" u="none" strike="noStrike" kern="1200" baseline="0">
                        <a:solidFill>
                          <a:schemeClr val="lt1">
                            <a:lumMod val="8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r>
                      <a: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32.54%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lt1">
                          <a:lumMod val="85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903-49D9-BFDA-984DDADEB2C6}"/>
                </c:ext>
              </c:extLst>
            </c:dLbl>
            <c:dLbl>
              <c:idx val="1"/>
              <c:layout>
                <c:manualLayout>
                  <c:x val="0.16686039925025609"/>
                  <c:y val="3.7037037037037035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33.93%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903-49D9-BFDA-984DDADEB2C6}"/>
                </c:ext>
              </c:extLst>
            </c:dLbl>
            <c:dLbl>
              <c:idx val="2"/>
              <c:layout>
                <c:manualLayout>
                  <c:x val="-6.611449781613922E-2"/>
                  <c:y val="-0.12500000000000006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400" b="0" i="0" u="none" strike="noStrike" kern="1200" baseline="0">
                        <a:solidFill>
                          <a:schemeClr val="lt1">
                            <a:lumMod val="85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defRPr>
                    </a:pPr>
                    <a:r>
                      <a:rPr lang="en-US" sz="14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34%</a:t>
                    </a:r>
                    <a:endParaRPr lang="en-US" sz="140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lt1">
                          <a:lumMod val="85000"/>
                        </a:schemeClr>
                      </a:soli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903-49D9-BFDA-984DDADEB2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Sheet1!$A$4:$A$7</c:f>
              <c:strCache>
                <c:ptCount val="3"/>
                <c:pt idx="0">
                  <c:v>California</c:v>
                </c:pt>
                <c:pt idx="1">
                  <c:v>Florida</c:v>
                </c:pt>
                <c:pt idx="2">
                  <c:v>New York</c:v>
                </c:pt>
              </c:strCache>
            </c:strRef>
          </c:cat>
          <c:val>
            <c:numRef>
              <c:f>Sheet1!$B$4:$B$7</c:f>
              <c:numCache>
                <c:formatCode>General</c:formatCode>
                <c:ptCount val="3"/>
                <c:pt idx="0">
                  <c:v>1766387.98</c:v>
                </c:pt>
                <c:pt idx="1">
                  <c:v>1900384.3900000004</c:v>
                </c:pt>
                <c:pt idx="2">
                  <c:v>1933859.59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903-49D9-BFDA-984DDADEB2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cap="none" spc="20" baseline="0">
                <a:solidFill>
                  <a:schemeClr val="dk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>
                <a:solidFill>
                  <a:schemeClr val="tx1"/>
                </a:solidFill>
              </a:rPr>
              <a:t>Impact</a:t>
            </a:r>
            <a:r>
              <a:rPr lang="en-US" baseline="0">
                <a:solidFill>
                  <a:schemeClr val="tx1"/>
                </a:solidFill>
              </a:rPr>
              <a:t> of </a:t>
            </a:r>
            <a:r>
              <a:rPr lang="en-US">
                <a:solidFill>
                  <a:schemeClr val="tx1"/>
                </a:solidFill>
              </a:rPr>
              <a:t>R&amp;D on Profit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cap="none" spc="20" baseline="0">
              <a:solidFill>
                <a:schemeClr val="dk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216498179482569"/>
          <c:y val="0.13491428227314867"/>
          <c:w val="0.83641532732076374"/>
          <c:h val="0.80391522382288838"/>
        </c:manualLayout>
      </c:layout>
      <c:scatterChart>
        <c:scatterStyle val="lineMarker"/>
        <c:varyColors val="0"/>
        <c:ser>
          <c:idx val="0"/>
          <c:order val="0"/>
          <c:tx>
            <c:v>R&amp;D vs Profit</c:v>
          </c:tx>
          <c:spPr>
            <a:ln w="9525" cap="flat" cmpd="sng" algn="ctr">
              <a:solidFill>
                <a:schemeClr val="accent1">
                  <a:alpha val="70000"/>
                </a:schemeClr>
              </a:solidFill>
              <a:prstDash val="sysDot"/>
              <a:round/>
            </a:ln>
            <a:effectLst/>
          </c:spPr>
          <c:marker>
            <c:symbol val="circle"/>
            <c:size val="5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</c:marker>
          <c:trendline>
            <c:spPr>
              <a:ln w="9525" cap="rnd">
                <a:solidFill>
                  <a:schemeClr val="accent1"/>
                </a:solidFill>
              </a:ln>
              <a:effectLst/>
            </c:spPr>
            <c:trendlineType val="linear"/>
            <c:dispRSqr val="0"/>
            <c:dispEq val="0"/>
          </c:trendline>
          <c:trendline>
            <c:spPr>
              <a:ln w="9525" cap="rnd">
                <a:solidFill>
                  <a:schemeClr val="accent1"/>
                </a:solidFill>
              </a:ln>
              <a:effectLst/>
            </c:spPr>
            <c:trendlineType val="linear"/>
            <c:dispRSqr val="1"/>
            <c:dispEq val="1"/>
            <c:trendlineLbl>
              <c:layout>
                <c:manualLayout>
                  <c:x val="-0.21578099249221755"/>
                  <c:y val="-9.5757354654992452E-2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1400">
                        <a:solidFill>
                          <a:schemeClr val="tx1"/>
                        </a:solidFill>
                      </a:rPr>
                      <a:t>y = 0.8543x + 49033</a:t>
                    </a:r>
                    <a:br>
                      <a:rPr lang="en-US" sz="1400">
                        <a:solidFill>
                          <a:schemeClr val="tx1"/>
                        </a:solidFill>
                      </a:rPr>
                    </a:br>
                    <a:r>
                      <a:rPr lang="en-US" sz="1400">
                        <a:solidFill>
                          <a:schemeClr val="tx1"/>
                        </a:solidFill>
                      </a:rPr>
                      <a:t>R² = 0.9465</a:t>
                    </a:r>
                  </a:p>
                </c:rich>
              </c:tx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</c:trendlineLbl>
          </c:trendline>
          <c:xVal>
            <c:numRef>
              <c:f>Profit_analysis!$A$2:$A$51</c:f>
              <c:numCache>
                <c:formatCode>General</c:formatCode>
                <c:ptCount val="50"/>
                <c:pt idx="0">
                  <c:v>165349.20000000001</c:v>
                </c:pt>
                <c:pt idx="1">
                  <c:v>162597.70000000001</c:v>
                </c:pt>
                <c:pt idx="2">
                  <c:v>153441.51</c:v>
                </c:pt>
                <c:pt idx="3">
                  <c:v>144372.41</c:v>
                </c:pt>
                <c:pt idx="4">
                  <c:v>142107.34</c:v>
                </c:pt>
                <c:pt idx="5">
                  <c:v>131876.9</c:v>
                </c:pt>
                <c:pt idx="6">
                  <c:v>134615.46</c:v>
                </c:pt>
                <c:pt idx="7">
                  <c:v>130298.13</c:v>
                </c:pt>
                <c:pt idx="8">
                  <c:v>120542.52</c:v>
                </c:pt>
                <c:pt idx="9">
                  <c:v>123334.88</c:v>
                </c:pt>
                <c:pt idx="10">
                  <c:v>101913.08</c:v>
                </c:pt>
                <c:pt idx="11">
                  <c:v>100671.96</c:v>
                </c:pt>
                <c:pt idx="12">
                  <c:v>93863.75</c:v>
                </c:pt>
                <c:pt idx="13">
                  <c:v>91992.39</c:v>
                </c:pt>
                <c:pt idx="14">
                  <c:v>119943.24</c:v>
                </c:pt>
                <c:pt idx="15">
                  <c:v>114523.61</c:v>
                </c:pt>
                <c:pt idx="16">
                  <c:v>78013.11</c:v>
                </c:pt>
                <c:pt idx="17">
                  <c:v>94657.16</c:v>
                </c:pt>
                <c:pt idx="18">
                  <c:v>91749.16</c:v>
                </c:pt>
                <c:pt idx="19">
                  <c:v>86419.7</c:v>
                </c:pt>
                <c:pt idx="20">
                  <c:v>76253.86</c:v>
                </c:pt>
                <c:pt idx="21">
                  <c:v>78389.47</c:v>
                </c:pt>
                <c:pt idx="22">
                  <c:v>73994.559999999998</c:v>
                </c:pt>
                <c:pt idx="23">
                  <c:v>67532.53</c:v>
                </c:pt>
                <c:pt idx="24">
                  <c:v>77044.009999999995</c:v>
                </c:pt>
                <c:pt idx="25">
                  <c:v>64664.71</c:v>
                </c:pt>
                <c:pt idx="26">
                  <c:v>75328.87</c:v>
                </c:pt>
                <c:pt idx="27">
                  <c:v>72107.600000000006</c:v>
                </c:pt>
                <c:pt idx="28">
                  <c:v>66051.520000000004</c:v>
                </c:pt>
                <c:pt idx="29">
                  <c:v>65605.48</c:v>
                </c:pt>
                <c:pt idx="30">
                  <c:v>61994.48</c:v>
                </c:pt>
                <c:pt idx="31">
                  <c:v>61136.38</c:v>
                </c:pt>
                <c:pt idx="32">
                  <c:v>63408.86</c:v>
                </c:pt>
                <c:pt idx="33">
                  <c:v>55493.95</c:v>
                </c:pt>
                <c:pt idx="34">
                  <c:v>46426.07</c:v>
                </c:pt>
                <c:pt idx="35">
                  <c:v>46014.02</c:v>
                </c:pt>
                <c:pt idx="36">
                  <c:v>28663.759999999998</c:v>
                </c:pt>
                <c:pt idx="37">
                  <c:v>44069.95</c:v>
                </c:pt>
                <c:pt idx="38">
                  <c:v>20229.59</c:v>
                </c:pt>
                <c:pt idx="39">
                  <c:v>38558.51</c:v>
                </c:pt>
                <c:pt idx="40">
                  <c:v>28754.33</c:v>
                </c:pt>
                <c:pt idx="41">
                  <c:v>27892.92</c:v>
                </c:pt>
                <c:pt idx="42">
                  <c:v>23640.93</c:v>
                </c:pt>
                <c:pt idx="43">
                  <c:v>15505.73</c:v>
                </c:pt>
                <c:pt idx="44">
                  <c:v>22177.74</c:v>
                </c:pt>
                <c:pt idx="45">
                  <c:v>1000.23</c:v>
                </c:pt>
                <c:pt idx="46">
                  <c:v>1315.46</c:v>
                </c:pt>
                <c:pt idx="47">
                  <c:v>0</c:v>
                </c:pt>
                <c:pt idx="48">
                  <c:v>542.04999999999995</c:v>
                </c:pt>
                <c:pt idx="49">
                  <c:v>0</c:v>
                </c:pt>
              </c:numCache>
            </c:numRef>
          </c:xVal>
          <c:yVal>
            <c:numRef>
              <c:f>Profit_analysis!$E$2:$E$51</c:f>
              <c:numCache>
                <c:formatCode>General</c:formatCode>
                <c:ptCount val="50"/>
                <c:pt idx="0">
                  <c:v>192261.83</c:v>
                </c:pt>
                <c:pt idx="1">
                  <c:v>191792.06</c:v>
                </c:pt>
                <c:pt idx="2">
                  <c:v>191050.39</c:v>
                </c:pt>
                <c:pt idx="3">
                  <c:v>182901.99</c:v>
                </c:pt>
                <c:pt idx="4">
                  <c:v>166187.94</c:v>
                </c:pt>
                <c:pt idx="5">
                  <c:v>156991.12</c:v>
                </c:pt>
                <c:pt idx="6">
                  <c:v>156122.51</c:v>
                </c:pt>
                <c:pt idx="7">
                  <c:v>155752.6</c:v>
                </c:pt>
                <c:pt idx="8">
                  <c:v>152211.76999999999</c:v>
                </c:pt>
                <c:pt idx="9">
                  <c:v>149759.96</c:v>
                </c:pt>
                <c:pt idx="10">
                  <c:v>146121.95000000001</c:v>
                </c:pt>
                <c:pt idx="11">
                  <c:v>144259.4</c:v>
                </c:pt>
                <c:pt idx="12">
                  <c:v>141585.51999999999</c:v>
                </c:pt>
                <c:pt idx="13">
                  <c:v>134307.35</c:v>
                </c:pt>
                <c:pt idx="14">
                  <c:v>132602.65</c:v>
                </c:pt>
                <c:pt idx="15">
                  <c:v>129917.04</c:v>
                </c:pt>
                <c:pt idx="16">
                  <c:v>126992.93</c:v>
                </c:pt>
                <c:pt idx="17">
                  <c:v>125370.37</c:v>
                </c:pt>
                <c:pt idx="18">
                  <c:v>124266.9</c:v>
                </c:pt>
                <c:pt idx="19">
                  <c:v>122776.86</c:v>
                </c:pt>
                <c:pt idx="20">
                  <c:v>118474.03</c:v>
                </c:pt>
                <c:pt idx="21">
                  <c:v>111313.02</c:v>
                </c:pt>
                <c:pt idx="22">
                  <c:v>110352.25</c:v>
                </c:pt>
                <c:pt idx="23">
                  <c:v>108733.99</c:v>
                </c:pt>
                <c:pt idx="24">
                  <c:v>108552.04</c:v>
                </c:pt>
                <c:pt idx="25">
                  <c:v>107404.34</c:v>
                </c:pt>
                <c:pt idx="26">
                  <c:v>105733.54</c:v>
                </c:pt>
                <c:pt idx="27">
                  <c:v>105008.31</c:v>
                </c:pt>
                <c:pt idx="28">
                  <c:v>103282.38</c:v>
                </c:pt>
                <c:pt idx="29">
                  <c:v>101004.64</c:v>
                </c:pt>
                <c:pt idx="30">
                  <c:v>99937.59</c:v>
                </c:pt>
                <c:pt idx="31">
                  <c:v>97483.56</c:v>
                </c:pt>
                <c:pt idx="32">
                  <c:v>97427.839999999997</c:v>
                </c:pt>
                <c:pt idx="33">
                  <c:v>96778.92</c:v>
                </c:pt>
                <c:pt idx="34">
                  <c:v>96712.8</c:v>
                </c:pt>
                <c:pt idx="35">
                  <c:v>96479.51</c:v>
                </c:pt>
                <c:pt idx="36">
                  <c:v>90708.19</c:v>
                </c:pt>
                <c:pt idx="37">
                  <c:v>89949.14</c:v>
                </c:pt>
                <c:pt idx="38">
                  <c:v>81229.06</c:v>
                </c:pt>
                <c:pt idx="39">
                  <c:v>81005.759999999995</c:v>
                </c:pt>
                <c:pt idx="40">
                  <c:v>78239.91</c:v>
                </c:pt>
                <c:pt idx="41">
                  <c:v>77798.83</c:v>
                </c:pt>
                <c:pt idx="42">
                  <c:v>71498.490000000005</c:v>
                </c:pt>
                <c:pt idx="43">
                  <c:v>69758.98</c:v>
                </c:pt>
                <c:pt idx="44">
                  <c:v>65200.33</c:v>
                </c:pt>
                <c:pt idx="45">
                  <c:v>64926.080000000002</c:v>
                </c:pt>
                <c:pt idx="46">
                  <c:v>49490.75</c:v>
                </c:pt>
                <c:pt idx="47">
                  <c:v>42559.73</c:v>
                </c:pt>
                <c:pt idx="48">
                  <c:v>35673.410000000003</c:v>
                </c:pt>
                <c:pt idx="49">
                  <c:v>14681.4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00F-4035-A137-1183E78470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68395520"/>
        <c:axId val="1468404160"/>
      </c:scatterChart>
      <c:valAx>
        <c:axId val="14683955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rnd">
            <a:solidFill>
              <a:schemeClr val="dk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8404160"/>
        <c:crosses val="autoZero"/>
        <c:crossBetween val="midCat"/>
      </c:valAx>
      <c:valAx>
        <c:axId val="1468404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rnd">
            <a:solidFill>
              <a:schemeClr val="dk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8395520"/>
        <c:crosses val="autoZero"/>
        <c:crossBetween val="midCat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>
                <a:alpha val="0"/>
              </a:schemeClr>
            </a:gs>
          </a:gsLst>
          <a:lin ang="5400000" scaled="0"/>
        </a:gra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30ACEC">
        <a:lumMod val="60000"/>
        <a:lumOff val="40000"/>
      </a:srgb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Spend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Expenditures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6000"/>
                    <a:lumMod val="102000"/>
                  </a:schemeClr>
                </a:gs>
                <a:gs pos="100000">
                  <a:schemeClr val="accent1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9F3BA14-FE8A-4A37-AB7D-47CD4C72B916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C79-4444-BA8A-2F044F4B9C4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52FA1AD4-B05D-485F-AE12-01446D21C81B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C79-4444-BA8A-2F044F4B9C4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 18.15%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C79-4444-BA8A-2F044F4B9C4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R&amp;D Spend</c:v>
                </c:pt>
                <c:pt idx="1">
                  <c:v>Administration</c:v>
                </c:pt>
                <c:pt idx="2">
                  <c:v>Marketing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51.96</c:v>
                </c:pt>
                <c:pt idx="1">
                  <c:v>29.88</c:v>
                </c:pt>
                <c:pt idx="2">
                  <c:v>18.149999999999999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79-4444-BA8A-2F044F4B9C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96000"/>
                    <a:lumMod val="102000"/>
                  </a:schemeClr>
                </a:gs>
                <a:gs pos="100000">
                  <a:schemeClr val="accent2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R&amp;D Spend</c:v>
                </c:pt>
                <c:pt idx="1">
                  <c:v>Administration</c:v>
                </c:pt>
                <c:pt idx="2">
                  <c:v>Marketing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6C79-4444-BA8A-2F044F4B9C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tint val="96000"/>
                    <a:lumMod val="102000"/>
                  </a:schemeClr>
                </a:gs>
                <a:gs pos="100000">
                  <a:schemeClr val="accent3">
                    <a:shade val="88000"/>
                    <a:lumMod val="94000"/>
                  </a:schemeClr>
                </a:gs>
              </a:gsLst>
              <a:path path="circle">
                <a:fillToRect l="50000" t="100000" r="100000" b="5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64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>
                <a:rot lat="0" lon="0" rev="1200000"/>
              </a:lightRig>
            </a:scene3d>
            <a:sp3d>
              <a:bevelT w="25400" h="127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R&amp;D Spend</c:v>
                </c:pt>
                <c:pt idx="1">
                  <c:v>Administration</c:v>
                </c:pt>
                <c:pt idx="2">
                  <c:v>Marketing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6C79-4444-BA8A-2F044F4B9C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665750480"/>
        <c:axId val="665741840"/>
      </c:barChart>
      <c:catAx>
        <c:axId val="6657504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5741840"/>
        <c:crosses val="autoZero"/>
        <c:auto val="1"/>
        <c:lblAlgn val="ctr"/>
        <c:lblOffset val="100"/>
        <c:noMultiLvlLbl val="0"/>
      </c:catAx>
      <c:valAx>
        <c:axId val="665741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57504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7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46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rnd">
        <a:solidFill>
          <a:schemeClr val="dk1">
            <a:lumMod val="20000"/>
            <a:lumOff val="80000"/>
          </a:schemeClr>
        </a:solidFill>
        <a:round/>
      </a:ln>
    </cs:spPr>
    <cs:defRPr sz="900" kern="120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/>
    <cs:effectRef idx="1"/>
    <cs:fontRef idx="minor">
      <a:schemeClr val="dk1"/>
    </cs:fontRef>
    <cs:spPr>
      <a:ln w="9525" cap="flat" cmpd="sng" algn="ctr">
        <a:solidFill>
          <a:schemeClr val="phClr">
            <a:alpha val="70000"/>
          </a:schemeClr>
        </a:solidFill>
        <a:prstDash val="sysDot"/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rnd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rnd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 spc="0" baseline="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>
              <a:alpha val="0"/>
            </a:schemeClr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rnd">
        <a:solidFill>
          <a:schemeClr val="dk1">
            <a:lumMod val="20000"/>
            <a:lumOff val="80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 cap="rnd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rnd">
        <a:solidFill>
          <a:schemeClr val="dk1">
            <a:lumMod val="25000"/>
            <a:lumOff val="75000"/>
          </a:schemeClr>
        </a:solidFill>
        <a:round/>
      </a:ln>
    </cs:spPr>
    <cs:defRPr sz="900" kern="1200" spc="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31634" y="1"/>
            <a:ext cx="4306943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3107" y="914401"/>
            <a:ext cx="7919242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33429" y="4402667"/>
            <a:ext cx="6568922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50873" y="6117337"/>
            <a:ext cx="97746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30804" y="6117337"/>
            <a:ext cx="411450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33290" y="6117337"/>
            <a:ext cx="469059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Freeform 12"/>
          <p:cNvSpPr/>
          <p:nvPr/>
        </p:nvSpPr>
        <p:spPr bwMode="auto">
          <a:xfrm>
            <a:off x="231634" y="3771900"/>
            <a:ext cx="412598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638804" y="3867150"/>
            <a:ext cx="70577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5447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564" y="457201"/>
            <a:ext cx="8782785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9564" y="2667000"/>
            <a:ext cx="8782785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72025" y="6108174"/>
            <a:ext cx="97746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8681" y="6108174"/>
            <a:ext cx="605818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14649" y="6108174"/>
            <a:ext cx="4877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32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5037" y="2666999"/>
            <a:ext cx="7637312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040" y="5027070"/>
            <a:ext cx="7637309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31007" y="6116071"/>
            <a:ext cx="471342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142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9564" y="685802"/>
            <a:ext cx="8782785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9563" y="2667000"/>
            <a:ext cx="4263222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39127" y="2667000"/>
            <a:ext cx="4263222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532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5516" y="2658533"/>
            <a:ext cx="3939932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9339" y="3335337"/>
            <a:ext cx="418610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83991" y="2667000"/>
            <a:ext cx="395305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0939" y="3335337"/>
            <a:ext cx="418610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81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954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292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340" y="1600200"/>
            <a:ext cx="303510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9936" y="685801"/>
            <a:ext cx="533711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9340" y="2971800"/>
            <a:ext cx="303510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939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7982" y="1752599"/>
            <a:ext cx="4640291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94749" y="914400"/>
            <a:ext cx="2805792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7982" y="3124199"/>
            <a:ext cx="464029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17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339" y="4732865"/>
            <a:ext cx="8567708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40448" y="932112"/>
            <a:ext cx="7034586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9339" y="5299603"/>
            <a:ext cx="8567708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60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341" y="685800"/>
            <a:ext cx="8567708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9340" y="4343400"/>
            <a:ext cx="8567709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5479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05073" y="863023"/>
            <a:ext cx="521312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5738" y="2819399"/>
            <a:ext cx="521312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6386" y="685801"/>
            <a:ext cx="7950007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1877" y="3428999"/>
            <a:ext cx="755902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9339" y="4343400"/>
            <a:ext cx="8567708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306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342" y="3308581"/>
            <a:ext cx="8567706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9340" y="4777381"/>
            <a:ext cx="8567707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466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05073" y="863023"/>
            <a:ext cx="521312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5738" y="2819399"/>
            <a:ext cx="521312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6386" y="685801"/>
            <a:ext cx="7950007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69341" y="3886200"/>
            <a:ext cx="8567707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9340" y="4775200"/>
            <a:ext cx="8567707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055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9342" y="685802"/>
            <a:ext cx="8567708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69340" y="3505200"/>
            <a:ext cx="8567709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9340" y="4343400"/>
            <a:ext cx="8567709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1414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570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23082" y="685800"/>
            <a:ext cx="1513968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9341" y="685800"/>
            <a:ext cx="6858247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698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1"/>
            <a:ext cx="2430347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9564" y="457201"/>
            <a:ext cx="8782785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9565" y="2667001"/>
            <a:ext cx="8782784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8383" y="6116071"/>
            <a:ext cx="9774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05-Apr-26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65039" y="6116071"/>
            <a:ext cx="60581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31007" y="6116071"/>
            <a:ext cx="4713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735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  <p:sldLayoutId id="2147484018" r:id="rId2"/>
    <p:sldLayoutId id="2147484019" r:id="rId3"/>
    <p:sldLayoutId id="2147484020" r:id="rId4"/>
    <p:sldLayoutId id="2147484021" r:id="rId5"/>
    <p:sldLayoutId id="2147484022" r:id="rId6"/>
    <p:sldLayoutId id="2147484023" r:id="rId7"/>
    <p:sldLayoutId id="2147484024" r:id="rId8"/>
    <p:sldLayoutId id="2147484025" r:id="rId9"/>
    <p:sldLayoutId id="2147484026" r:id="rId10"/>
    <p:sldLayoutId id="2147484027" r:id="rId11"/>
    <p:sldLayoutId id="2147484028" r:id="rId12"/>
    <p:sldLayoutId id="2147484029" r:id="rId13"/>
    <p:sldLayoutId id="2147484030" r:id="rId14"/>
    <p:sldLayoutId id="2147484031" r:id="rId15"/>
    <p:sldLayoutId id="2147484032" r:id="rId16"/>
    <p:sldLayoutId id="214748403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eb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eb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2A4080-3813-5113-9F68-988CAE650814}"/>
              </a:ext>
            </a:extLst>
          </p:cNvPr>
          <p:cNvSpPr txBox="1"/>
          <p:nvPr/>
        </p:nvSpPr>
        <p:spPr>
          <a:xfrm>
            <a:off x="1761405" y="631241"/>
            <a:ext cx="7804626" cy="707886"/>
          </a:xfrm>
          <a:custGeom>
            <a:avLst/>
            <a:gdLst>
              <a:gd name="csX0" fmla="*/ 0 w 8459372"/>
              <a:gd name="csY0" fmla="*/ 0 h 646331"/>
              <a:gd name="csX1" fmla="*/ 8459372 w 8459372"/>
              <a:gd name="csY1" fmla="*/ 0 h 646331"/>
              <a:gd name="csX2" fmla="*/ 8459372 w 8459372"/>
              <a:gd name="csY2" fmla="*/ 646331 h 646331"/>
              <a:gd name="csX3" fmla="*/ 0 w 8459372"/>
              <a:gd name="csY3" fmla="*/ 646331 h 646331"/>
              <a:gd name="csX4" fmla="*/ 0 w 8459372"/>
              <a:gd name="csY4" fmla="*/ 0 h 646331"/>
              <a:gd name="csX0" fmla="*/ 0 w 8515643"/>
              <a:gd name="csY0" fmla="*/ 0 h 913617"/>
              <a:gd name="csX1" fmla="*/ 8459372 w 8515643"/>
              <a:gd name="csY1" fmla="*/ 0 h 913617"/>
              <a:gd name="csX2" fmla="*/ 8515643 w 8515643"/>
              <a:gd name="csY2" fmla="*/ 913617 h 913617"/>
              <a:gd name="csX3" fmla="*/ 0 w 8515643"/>
              <a:gd name="csY3" fmla="*/ 646331 h 913617"/>
              <a:gd name="csX4" fmla="*/ 0 w 8515643"/>
              <a:gd name="csY4" fmla="*/ 0 h 913617"/>
              <a:gd name="csX0" fmla="*/ 0 w 8515643"/>
              <a:gd name="csY0" fmla="*/ 0 h 913617"/>
              <a:gd name="csX1" fmla="*/ 8459372 w 8515643"/>
              <a:gd name="csY1" fmla="*/ 0 h 913617"/>
              <a:gd name="csX2" fmla="*/ 8515643 w 8515643"/>
              <a:gd name="csY2" fmla="*/ 913617 h 913617"/>
              <a:gd name="csX3" fmla="*/ 42203 w 8515643"/>
              <a:gd name="csY3" fmla="*/ 843279 h 913617"/>
              <a:gd name="csX4" fmla="*/ 0 w 8515643"/>
              <a:gd name="csY4" fmla="*/ 0 h 913617"/>
              <a:gd name="csX0" fmla="*/ 0 w 8515643"/>
              <a:gd name="csY0" fmla="*/ 0 h 913617"/>
              <a:gd name="csX1" fmla="*/ 8459372 w 8515643"/>
              <a:gd name="csY1" fmla="*/ 0 h 913617"/>
              <a:gd name="csX2" fmla="*/ 8515643 w 8515643"/>
              <a:gd name="csY2" fmla="*/ 913617 h 913617"/>
              <a:gd name="csX3" fmla="*/ 42203 w 8515643"/>
              <a:gd name="csY3" fmla="*/ 885482 h 913617"/>
              <a:gd name="csX4" fmla="*/ 0 w 8515643"/>
              <a:gd name="csY4" fmla="*/ 0 h 913617"/>
              <a:gd name="csX0" fmla="*/ 0 w 8459372"/>
              <a:gd name="csY0" fmla="*/ 0 h 895462"/>
              <a:gd name="csX1" fmla="*/ 8459372 w 8459372"/>
              <a:gd name="csY1" fmla="*/ 0 h 895462"/>
              <a:gd name="csX2" fmla="*/ 8388776 w 8459372"/>
              <a:gd name="csY2" fmla="*/ 895462 h 895462"/>
              <a:gd name="csX3" fmla="*/ 42203 w 8459372"/>
              <a:gd name="csY3" fmla="*/ 885482 h 895462"/>
              <a:gd name="csX4" fmla="*/ 0 w 8459372"/>
              <a:gd name="csY4" fmla="*/ 0 h 895462"/>
              <a:gd name="csX0" fmla="*/ 0 w 8487451"/>
              <a:gd name="csY0" fmla="*/ 0 h 895462"/>
              <a:gd name="csX1" fmla="*/ 8459372 w 8487451"/>
              <a:gd name="csY1" fmla="*/ 0 h 895462"/>
              <a:gd name="csX2" fmla="*/ 8487451 w 8487451"/>
              <a:gd name="csY2" fmla="*/ 895462 h 895462"/>
              <a:gd name="csX3" fmla="*/ 42203 w 8487451"/>
              <a:gd name="csY3" fmla="*/ 885482 h 895462"/>
              <a:gd name="csX4" fmla="*/ 0 w 8487451"/>
              <a:gd name="csY4" fmla="*/ 0 h 895462"/>
              <a:gd name="csX0" fmla="*/ 86 w 8445248"/>
              <a:gd name="csY0" fmla="*/ 0 h 895462"/>
              <a:gd name="csX1" fmla="*/ 8417169 w 8445248"/>
              <a:gd name="csY1" fmla="*/ 0 h 895462"/>
              <a:gd name="csX2" fmla="*/ 8445248 w 8445248"/>
              <a:gd name="csY2" fmla="*/ 895462 h 895462"/>
              <a:gd name="csX3" fmla="*/ 0 w 8445248"/>
              <a:gd name="csY3" fmla="*/ 885482 h 895462"/>
              <a:gd name="csX4" fmla="*/ 86 w 8445248"/>
              <a:gd name="csY4" fmla="*/ 0 h 895462"/>
              <a:gd name="csX0" fmla="*/ 86 w 8473555"/>
              <a:gd name="csY0" fmla="*/ 0 h 895462"/>
              <a:gd name="csX1" fmla="*/ 8473555 w 8473555"/>
              <a:gd name="csY1" fmla="*/ 0 h 895462"/>
              <a:gd name="csX2" fmla="*/ 8445248 w 8473555"/>
              <a:gd name="csY2" fmla="*/ 895462 h 895462"/>
              <a:gd name="csX3" fmla="*/ 0 w 8473555"/>
              <a:gd name="csY3" fmla="*/ 885482 h 895462"/>
              <a:gd name="csX4" fmla="*/ 86 w 8473555"/>
              <a:gd name="csY4" fmla="*/ 0 h 895462"/>
              <a:gd name="csX0" fmla="*/ 86 w 8459458"/>
              <a:gd name="csY0" fmla="*/ 0 h 895462"/>
              <a:gd name="csX1" fmla="*/ 8459458 w 8459458"/>
              <a:gd name="csY1" fmla="*/ 36312 h 895462"/>
              <a:gd name="csX2" fmla="*/ 8445248 w 8459458"/>
              <a:gd name="csY2" fmla="*/ 895462 h 895462"/>
              <a:gd name="csX3" fmla="*/ 0 w 8459458"/>
              <a:gd name="csY3" fmla="*/ 885482 h 895462"/>
              <a:gd name="csX4" fmla="*/ 86 w 8459458"/>
              <a:gd name="csY4" fmla="*/ 0 h 8954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8459458" h="895462">
                <a:moveTo>
                  <a:pt x="86" y="0"/>
                </a:moveTo>
                <a:lnTo>
                  <a:pt x="8459458" y="36312"/>
                </a:lnTo>
                <a:lnTo>
                  <a:pt x="8445248" y="895462"/>
                </a:lnTo>
                <a:lnTo>
                  <a:pt x="0" y="885482"/>
                </a:lnTo>
                <a:cubicBezTo>
                  <a:pt x="29" y="590321"/>
                  <a:pt x="57" y="295161"/>
                  <a:pt x="86" y="0"/>
                </a:cubicBezTo>
                <a:close/>
              </a:path>
            </a:pathLst>
          </a:custGeom>
          <a:solidFill>
            <a:srgbClr val="C00000"/>
          </a:solidFill>
          <a:ln w="9525">
            <a:solidFill>
              <a:srgbClr val="00B05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1750"/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PROFIT ANALYSIS REPORT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8FFE3-2D47-E145-453C-1CBE35578A66}"/>
              </a:ext>
            </a:extLst>
          </p:cNvPr>
          <p:cNvSpPr txBox="1"/>
          <p:nvPr/>
        </p:nvSpPr>
        <p:spPr>
          <a:xfrm>
            <a:off x="2150281" y="1999023"/>
            <a:ext cx="65203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Project ID :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 PRDA - 01  -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 Profit Analysis</a:t>
            </a:r>
            <a:endParaRPr lang="en-US" sz="24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Gadugi" panose="020B0502040204020203" pitchFamily="34" charset="0"/>
              <a:cs typeface="Arial" panose="020B0604020202020204" pitchFamily="34" charset="0"/>
            </a:endParaRPr>
          </a:p>
          <a:p>
            <a:endParaRPr lang="en-US" sz="2400" dirty="0">
              <a:solidFill>
                <a:schemeClr val="accent3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61FB92-4DE4-06B0-8761-3E53D21EAA21}"/>
              </a:ext>
            </a:extLst>
          </p:cNvPr>
          <p:cNvSpPr txBox="1"/>
          <p:nvPr/>
        </p:nvSpPr>
        <p:spPr>
          <a:xfrm>
            <a:off x="2203034" y="2487273"/>
            <a:ext cx="60702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Team ID :     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PTID-CDA-MAR-26-1366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Gadugi" panose="020B0502040204020203" pitchFamily="34" charset="0"/>
                <a:cs typeface="Arial" panose="020B0604020202020204" pitchFamily="34" charset="0"/>
              </a:rPr>
              <a:t>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F97DFE-39F0-AAAC-CB78-ECAA24507F70}"/>
              </a:ext>
            </a:extLst>
          </p:cNvPr>
          <p:cNvSpPr txBox="1"/>
          <p:nvPr/>
        </p:nvSpPr>
        <p:spPr>
          <a:xfrm>
            <a:off x="2203034" y="3318270"/>
            <a:ext cx="51382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By:</a:t>
            </a:r>
          </a:p>
          <a:p>
            <a:r>
              <a:rPr lang="en-US" sz="2400" dirty="0">
                <a:solidFill>
                  <a:srgbClr val="080808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Kiran Hipparkar</a:t>
            </a:r>
          </a:p>
        </p:txBody>
      </p:sp>
    </p:spTree>
    <p:extLst>
      <p:ext uri="{BB962C8B-B14F-4D97-AF65-F5344CB8AC3E}">
        <p14:creationId xmlns:p14="http://schemas.microsoft.com/office/powerpoint/2010/main" val="189219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8F5F-8937-8546-2ABD-56C0394D3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3306" y="857252"/>
            <a:ext cx="5475850" cy="728003"/>
          </a:xfr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>
                <a:solidFill>
                  <a:srgbClr val="002060"/>
                </a:solidFill>
              </a:rPr>
              <a:t>Project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602317-304A-51BF-A455-31A88E0093B9}"/>
              </a:ext>
            </a:extLst>
          </p:cNvPr>
          <p:cNvSpPr txBox="1"/>
          <p:nvPr/>
        </p:nvSpPr>
        <p:spPr>
          <a:xfrm>
            <a:off x="1614583" y="2092071"/>
            <a:ext cx="81483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02060"/>
              </a:buClr>
            </a:pPr>
            <a:r>
              <a:rPr lang="en-US" sz="2400" dirty="0">
                <a:solidFill>
                  <a:srgbClr val="002060"/>
                </a:solidFill>
                <a:latin typeface="Arial Rounded MT Bold" panose="020F070403050403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Objective: 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Analyze how R&amp;D, Administration, and Marketing</a:t>
            </a:r>
          </a:p>
          <a:p>
            <a:pPr>
              <a:buClr>
                <a:srgbClr val="002060"/>
              </a:buClr>
            </a:pP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expenditures affect company profit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4AD29-2D73-FE34-DC42-B20D9571DCC6}"/>
              </a:ext>
            </a:extLst>
          </p:cNvPr>
          <p:cNvSpPr txBox="1"/>
          <p:nvPr/>
        </p:nvSpPr>
        <p:spPr>
          <a:xfrm>
            <a:off x="1617307" y="2828136"/>
            <a:ext cx="8581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Arial Rounded MT Bold" panose="020F0704030504030204" pitchFamily="34" charset="0"/>
              </a:rPr>
              <a:t>Dataset:  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Sales data from companies across 3 U.S. states – New York </a:t>
            </a:r>
            <a:r>
              <a:rPr lang="en-US"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endParaRPr lang="en-US" sz="15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F396C-2A3C-5FC1-36D2-1F5E7F7AFDB6}"/>
              </a:ext>
            </a:extLst>
          </p:cNvPr>
          <p:cNvSpPr txBox="1"/>
          <p:nvPr/>
        </p:nvSpPr>
        <p:spPr>
          <a:xfrm>
            <a:off x="3170267" y="3289801"/>
            <a:ext cx="54758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Florida, and California.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792D39-C72F-CA48-7D7A-2240147E88DE}"/>
              </a:ext>
            </a:extLst>
          </p:cNvPr>
          <p:cNvSpPr txBox="1"/>
          <p:nvPr/>
        </p:nvSpPr>
        <p:spPr>
          <a:xfrm>
            <a:off x="1614583" y="4118200"/>
            <a:ext cx="73324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060"/>
                </a:solidFill>
                <a:latin typeface="Arial Rounded MT Bold" panose="020F070403050403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Tools Used: </a:t>
            </a:r>
            <a:r>
              <a:rPr lang="en-US" sz="2000" dirty="0">
                <a:solidFill>
                  <a:srgbClr val="080808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SQL (Data extraction)</a:t>
            </a:r>
          </a:p>
          <a:p>
            <a:r>
              <a:rPr lang="en-US" sz="2000" dirty="0">
                <a:solidFill>
                  <a:schemeClr val="tx2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</a:t>
            </a:r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Power BI (Dashboard creation)</a:t>
            </a:r>
          </a:p>
          <a:p>
            <a:r>
              <a:rPr 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Excel (Data cleaning &amp;Regression)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77685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0B22BA7-055F-E920-E745-98F1D5546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646331"/>
            <a:ext cx="10423525" cy="62116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0499583-4BFB-892D-2170-DC3728EB41F5}"/>
              </a:ext>
            </a:extLst>
          </p:cNvPr>
          <p:cNvSpPr txBox="1"/>
          <p:nvPr/>
        </p:nvSpPr>
        <p:spPr>
          <a:xfrm>
            <a:off x="0" y="-1"/>
            <a:ext cx="10423525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latin typeface="+mj-lt"/>
              </a:rPr>
              <a:t>Power BI Dashboard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0F16AE8-9F0B-73B9-E236-7DF4DC4A2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784" y="59788"/>
            <a:ext cx="673315" cy="52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57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82837-B513-9A4D-9411-25BB6B1D3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395" y="211016"/>
            <a:ext cx="7222027" cy="956602"/>
          </a:xfrm>
          <a:solidFill>
            <a:schemeClr val="accent2">
              <a:lumMod val="40000"/>
              <a:lumOff val="60000"/>
            </a:schemeClr>
          </a:solidFill>
          <a:effectLst>
            <a:softEdge rad="31750"/>
          </a:effectLst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Summary Metrics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6DC3C2-14A5-6193-FDEB-C3773A36D6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9810" y="211016"/>
            <a:ext cx="956602" cy="9566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42C248-0370-FE59-BC8E-71FF309B1941}"/>
              </a:ext>
            </a:extLst>
          </p:cNvPr>
          <p:cNvSpPr txBox="1"/>
          <p:nvPr/>
        </p:nvSpPr>
        <p:spPr>
          <a:xfrm>
            <a:off x="1463041" y="1720840"/>
            <a:ext cx="797638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total profit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5.60M</a:t>
            </a:r>
            <a:r>
              <a:rPr lang="en-US" sz="20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represents the cumulative profit generated across all states.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Profit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112.01K</a:t>
            </a:r>
            <a:r>
              <a:rPr lang="en-US" sz="20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indicates the mean profit per state, reflecting overall profitability.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amount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192.26K</a:t>
            </a:r>
            <a:r>
              <a:rPr lang="en-US" sz="20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highest recorded profit among all individual states.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8080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amount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14.68K</a:t>
            </a:r>
            <a:r>
              <a:rPr lang="en-US" sz="2000" dirty="0">
                <a:solidFill>
                  <a:srgbClr val="08080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lowest profit observed, highlighting variability in project outcomes.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254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B0BE9-3121-6354-32C2-73B0BD84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7395" y="309490"/>
            <a:ext cx="7418974" cy="1097279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                      </a:t>
            </a:r>
            <a:r>
              <a:rPr lang="en-US" sz="4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Profit by State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EF5738-1958-8261-F974-5ED8D91C2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276" y="406974"/>
            <a:ext cx="914400" cy="9023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90D0CF-B33B-E867-62CE-4BF736F15173}"/>
              </a:ext>
            </a:extLst>
          </p:cNvPr>
          <p:cNvSpPr txBox="1"/>
          <p:nvPr/>
        </p:nvSpPr>
        <p:spPr>
          <a:xfrm>
            <a:off x="1649437" y="1947204"/>
            <a:ext cx="4277446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15000"/>
              <a:buFont typeface="Wingdings" panose="05000000000000000000" pitchFamily="2" charset="2"/>
              <a:buChar char="Ø"/>
              <a:tabLst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New York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: 34% (Highest contributor)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15000"/>
              <a:buFont typeface="Wingdings" panose="05000000000000000000" pitchFamily="2" charset="2"/>
              <a:buChar char="Ø"/>
              <a:tabLst/>
              <a:defRPr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Florida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: 33.93%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1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California: 32.54%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tx2">
                  <a:lumMod val="75000"/>
                  <a:lumOff val="25000"/>
                </a:schemeClr>
              </a:buClr>
              <a:buSzPct val="115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Insight: Profit distribution is relatively balanced among states.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E5A152C-D083-9763-0F74-B7E930EB35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87212758"/>
              </p:ext>
            </p:extLst>
          </p:nvPr>
        </p:nvGraphicFramePr>
        <p:xfrm>
          <a:off x="5926882" y="1835494"/>
          <a:ext cx="403391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33218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67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7611-54C0-473C-DD86-647F5FFC9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463" y="225084"/>
            <a:ext cx="7970162" cy="970670"/>
          </a:xfr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</a:rPr>
              <a:t>                 Regression Insights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41B106-8DD4-6053-4007-291223759B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8861625"/>
              </p:ext>
            </p:extLst>
          </p:nvPr>
        </p:nvGraphicFramePr>
        <p:xfrm>
          <a:off x="5922498" y="1744394"/>
          <a:ext cx="4501027" cy="3605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7312109-3D51-7BFD-9308-161DCAD3C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3878" y="314805"/>
            <a:ext cx="858129" cy="7912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F08EA3-F497-70F5-ADA7-8BBAA3E2329E}"/>
              </a:ext>
            </a:extLst>
          </p:cNvPr>
          <p:cNvSpPr txBox="1"/>
          <p:nvPr/>
        </p:nvSpPr>
        <p:spPr>
          <a:xfrm>
            <a:off x="682281" y="1951671"/>
            <a:ext cx="5324623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R² Score: 0.94 → Strong predictive power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regression model gives R² = 0.95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R&amp;D Spend: Strong positive influence on profit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Administration Spend: Slight negative influence</a:t>
            </a:r>
          </a:p>
          <a:p>
            <a:pPr marL="285750" indent="-285750">
              <a:lnSpc>
                <a:spcPct val="150000"/>
              </a:lnSpc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Marketing Spend: Low influence</a:t>
            </a:r>
          </a:p>
        </p:txBody>
      </p:sp>
    </p:spTree>
    <p:extLst>
      <p:ext uri="{BB962C8B-B14F-4D97-AF65-F5344CB8AC3E}">
        <p14:creationId xmlns:p14="http://schemas.microsoft.com/office/powerpoint/2010/main" val="3141043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67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589D-6A0E-B18B-8B74-377DDE5E2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378" y="239151"/>
            <a:ext cx="8368971" cy="1012874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>
                <a:latin typeface="Segoe UI" panose="020B0502040204020203" pitchFamily="34" charset="0"/>
                <a:ea typeface="Arial Unicode MS" panose="020B0604020202020204" pitchFamily="34" charset="-128"/>
                <a:cs typeface="Segoe UI" panose="020B0502040204020203" pitchFamily="34" charset="0"/>
              </a:rPr>
              <a:t>Spend Category Insights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5C242A0B-1EE0-8889-6C4E-C62F78217C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0875855"/>
              </p:ext>
            </p:extLst>
          </p:nvPr>
        </p:nvGraphicFramePr>
        <p:xfrm>
          <a:off x="1954755" y="3341077"/>
          <a:ext cx="7526216" cy="2918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70ACDD0-735B-12F3-9FA0-EEB28221CC37}"/>
              </a:ext>
            </a:extLst>
          </p:cNvPr>
          <p:cNvSpPr txBox="1"/>
          <p:nvPr/>
        </p:nvSpPr>
        <p:spPr>
          <a:xfrm>
            <a:off x="2067632" y="1378953"/>
            <a:ext cx="62882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R&amp;D Spend: 51.96%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Administration Spend: 29.88%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Marketing Spend: 18.15%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Book Antiqua" panose="02040602050305030304" pitchFamily="18" charset="0"/>
              </a:rPr>
              <a:t>Insight: “ Majority of the budget is allocated to R&amp;D, showing focus on innovation.”</a:t>
            </a:r>
          </a:p>
          <a:p>
            <a:r>
              <a:rPr lang="en-US" sz="2000" dirty="0">
                <a:latin typeface="Book Antiqua" panose="02040602050305030304" pitchFamily="18" charset="0"/>
              </a:rPr>
              <a:t>     (Calculated by Percentage Formula )</a:t>
            </a:r>
          </a:p>
        </p:txBody>
      </p:sp>
    </p:spTree>
    <p:extLst>
      <p:ext uri="{BB962C8B-B14F-4D97-AF65-F5344CB8AC3E}">
        <p14:creationId xmlns:p14="http://schemas.microsoft.com/office/powerpoint/2010/main" val="415022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300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67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B2B02-152E-EBDF-2F6F-0E87A0449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124" y="305971"/>
            <a:ext cx="7934178" cy="1058595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/>
              <a:t>               Prediction (By Excel)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9653231-30EF-23C6-AC57-BBBCE396F2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2094" y="428691"/>
            <a:ext cx="835845" cy="7980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AEA6E9-FCF5-724F-7CA5-9B7173CDE567}"/>
              </a:ext>
            </a:extLst>
          </p:cNvPr>
          <p:cNvSpPr txBox="1"/>
          <p:nvPr/>
        </p:nvSpPr>
        <p:spPr>
          <a:xfrm>
            <a:off x="2029264" y="1903886"/>
            <a:ext cx="759303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Case 1 – Predicted Profit: 70066.94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Case 2 – Predicted Profit: 70584.94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Insight: Model generates reliable profit estimates for new inputs.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4C5C1E9-8846-5668-AB10-3917166081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986425"/>
              </p:ext>
            </p:extLst>
          </p:nvPr>
        </p:nvGraphicFramePr>
        <p:xfrm>
          <a:off x="2029265" y="3784564"/>
          <a:ext cx="7114736" cy="1420482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652664">
                  <a:extLst>
                    <a:ext uri="{9D8B030D-6E8A-4147-A177-3AD203B41FA5}">
                      <a16:colId xmlns:a16="http://schemas.microsoft.com/office/drawing/2014/main" val="2731313138"/>
                    </a:ext>
                  </a:extLst>
                </a:gridCol>
                <a:gridCol w="1663794">
                  <a:extLst>
                    <a:ext uri="{9D8B030D-6E8A-4147-A177-3AD203B41FA5}">
                      <a16:colId xmlns:a16="http://schemas.microsoft.com/office/drawing/2014/main" val="604730728"/>
                    </a:ext>
                  </a:extLst>
                </a:gridCol>
                <a:gridCol w="1871003">
                  <a:extLst>
                    <a:ext uri="{9D8B030D-6E8A-4147-A177-3AD203B41FA5}">
                      <a16:colId xmlns:a16="http://schemas.microsoft.com/office/drawing/2014/main" val="4201383004"/>
                    </a:ext>
                  </a:extLst>
                </a:gridCol>
                <a:gridCol w="1927275">
                  <a:extLst>
                    <a:ext uri="{9D8B030D-6E8A-4147-A177-3AD203B41FA5}">
                      <a16:colId xmlns:a16="http://schemas.microsoft.com/office/drawing/2014/main" val="948482222"/>
                    </a:ext>
                  </a:extLst>
                </a:gridCol>
              </a:tblGrid>
              <a:tr h="49201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</a:rPr>
                        <a:t>R&amp;D spend</a:t>
                      </a: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</a:rPr>
                        <a:t>Admin spend</a:t>
                      </a: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</a:rPr>
                        <a:t>Marketing spend</a:t>
                      </a: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noFill/>
                          </a:ln>
                          <a:solidFill>
                            <a:srgbClr val="002060"/>
                          </a:solidFill>
                        </a:rPr>
                        <a:t>Predicted Profit</a:t>
                      </a:r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688909"/>
                  </a:ext>
                </a:extLst>
              </a:tr>
              <a:tr h="413397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21892.92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81910.77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164270.7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70066.94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613723076"/>
                  </a:ext>
                </a:extLst>
              </a:tr>
              <a:tr h="51507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23940.93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96489.63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137001.1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70584.94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265548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545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D6221-E216-0A9F-DDEF-8C9901BAE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37626"/>
            <a:ext cx="7807570" cy="900332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8377F-E250-E9A1-61F5-1737A3005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8295" y="1688123"/>
            <a:ext cx="8594054" cy="4311693"/>
          </a:xfrm>
        </p:spPr>
        <p:txBody>
          <a:bodyPr>
            <a:normAutofit/>
          </a:bodyPr>
          <a:lstStyle/>
          <a:p>
            <a:r>
              <a:rPr lang="en-US" dirty="0"/>
              <a:t>R&amp;D spending has the strongest positive correlation with profit. Strategic increases here can drive innovation and sustainable growth.</a:t>
            </a:r>
          </a:p>
          <a:p>
            <a:r>
              <a:rPr lang="en-US" dirty="0"/>
              <a:t>Administrative expenses show minimal or negative impact on profit. Cost control and process streamlining are key for higher efficiency.</a:t>
            </a:r>
          </a:p>
          <a:p>
            <a:r>
              <a:rPr lang="en-US" dirty="0"/>
              <a:t>Marketing investments exhibit low correlation with profit. Focus on data-driven campaigns with measurable outcomes to avoid waste.</a:t>
            </a:r>
          </a:p>
        </p:txBody>
      </p:sp>
    </p:spTree>
    <p:extLst>
      <p:ext uri="{BB962C8B-B14F-4D97-AF65-F5344CB8AC3E}">
        <p14:creationId xmlns:p14="http://schemas.microsoft.com/office/powerpoint/2010/main" val="3063700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8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2BA4C-DC1B-370E-0FAC-EA67FA1BF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462" y="351693"/>
            <a:ext cx="7638756" cy="928468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26CAD-C280-9137-7F88-E89416CAA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5582" y="2011680"/>
            <a:ext cx="8326767" cy="3657600"/>
          </a:xfrm>
        </p:spPr>
        <p:txBody>
          <a:bodyPr/>
          <a:lstStyle/>
          <a:p>
            <a:r>
              <a:rPr lang="en-US" dirty="0"/>
              <a:t>R&amp;D is the key driver of profit.</a:t>
            </a:r>
          </a:p>
          <a:p>
            <a:r>
              <a:rPr lang="en-US" dirty="0"/>
              <a:t>Administration needs cost control.</a:t>
            </a:r>
          </a:p>
          <a:p>
            <a:r>
              <a:rPr lang="en-US" dirty="0"/>
              <a:t>Marketing has limited influence on profits.</a:t>
            </a:r>
          </a:p>
          <a:p>
            <a:r>
              <a:rPr lang="en-US" dirty="0"/>
              <a:t>Balanced state-wise profit distribution.</a:t>
            </a:r>
          </a:p>
          <a:p>
            <a:r>
              <a:rPr lang="en-US" dirty="0"/>
              <a:t>Model is effective for profit prediction and planning.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269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8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5CF87D-59EC-4210-BAF3-CB4D9D1F145B}"/>
              </a:ext>
            </a:extLst>
          </p:cNvPr>
          <p:cNvSpPr txBox="1"/>
          <p:nvPr/>
        </p:nvSpPr>
        <p:spPr>
          <a:xfrm>
            <a:off x="2039815" y="1744394"/>
            <a:ext cx="7216727" cy="21236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r>
              <a:rPr lang="en-US" sz="6600" dirty="0">
                <a:latin typeface="Arial" panose="020B0604020202020204" pitchFamily="34" charset="0"/>
                <a:cs typeface="Arial" panose="020B0604020202020204" pitchFamily="34" charset="0"/>
              </a:rPr>
              <a:t>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38192402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Profit Analysis Report ppt</Template>
  <TotalTime>37</TotalTime>
  <Words>441</Words>
  <Application>Microsoft Office PowerPoint</Application>
  <PresentationFormat>Custom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 Unicode MS</vt:lpstr>
      <vt:lpstr>Arial</vt:lpstr>
      <vt:lpstr>Arial Rounded MT Bold</vt:lpstr>
      <vt:lpstr>Book Antiqua</vt:lpstr>
      <vt:lpstr>Calibri</vt:lpstr>
      <vt:lpstr>Corbel</vt:lpstr>
      <vt:lpstr>Ebrima</vt:lpstr>
      <vt:lpstr>Segoe UI</vt:lpstr>
      <vt:lpstr>Wingdings</vt:lpstr>
      <vt:lpstr>Parallax</vt:lpstr>
      <vt:lpstr>PowerPoint Presentation</vt:lpstr>
      <vt:lpstr>Project Overview</vt:lpstr>
      <vt:lpstr>PowerPoint Presentation</vt:lpstr>
      <vt:lpstr>                  Summary Metrics </vt:lpstr>
      <vt:lpstr>                      Profit by State</vt:lpstr>
      <vt:lpstr>                 Regression Insights</vt:lpstr>
      <vt:lpstr>Spend Category Insights</vt:lpstr>
      <vt:lpstr>               Prediction (By Excel)</vt:lpstr>
      <vt:lpstr>Recommendation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</dc:creator>
  <cp:lastModifiedBy>kiran</cp:lastModifiedBy>
  <cp:revision>3</cp:revision>
  <dcterms:created xsi:type="dcterms:W3CDTF">2026-04-05T15:39:49Z</dcterms:created>
  <dcterms:modified xsi:type="dcterms:W3CDTF">2026-04-05T17:35:24Z</dcterms:modified>
</cp:coreProperties>
</file>